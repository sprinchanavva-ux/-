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5C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C1A24"/>
          </a:solidFill>
          <a:ln/>
        </p:spPr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822960" y="251460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4" name="Text 1"/>
          <p:cNvSpPr/>
          <p:nvPr>
            <p:ph idx="105" type="body" hasCustomPrompt="1"/>
          </p:nvPr>
        </p:nvSpPr>
        <p:spPr>
          <a:xfrm>
            <a:off x="822960" y="3794760"/>
            <a:ext cx="96012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9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900" dirty="0"/>
          </a:p>
        </p:txBody>
      </p:sp>
      <p:sp>
        <p:nvSpPr>
          <p:cNvPr id="5" name="Text 1"/>
          <p:cNvSpPr/>
          <p:nvPr/>
        </p:nvSpPr>
        <p:spPr>
          <a:xfrm>
            <a:off x="82296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8D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ALINA  ·  ENGLISH LESSON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200" kern="0" dirty="0">
                <a:solidFill>
                  <a:srgbClr val="7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2B10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Shape 0"/>
          <p:cNvSpPr/>
          <p:nvPr/>
        </p:nvSpPr>
        <p:spPr>
          <a:xfrm>
            <a:off x="640080" y="1389888"/>
            <a:ext cx="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64008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2C2A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Alina  ·  Past Simple &amp; Past Continuous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822960" y="25146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FASHION WEEK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GRAMMAR</a:t>
            </a:r>
            <a:endParaRPr lang="en-US" sz="4200" dirty="0"/>
          </a:p>
        </p:txBody>
      </p:sp>
      <p:sp>
        <p:nvSpPr>
          <p:cNvPr id="3" name="Text 1"/>
          <p:cNvSpPr/>
          <p:nvPr>
            <p:ph idx="105" type="body" hasCustomPrompt="1"/>
          </p:nvPr>
        </p:nvSpPr>
        <p:spPr>
          <a:xfrm>
            <a:off x="822960" y="3794760"/>
            <a:ext cx="9601200" cy="6400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9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Simple  vs  Past Continuous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68680" y="1417320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3533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D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GRAMMAR LESSON FOR ALINA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RUNWAY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10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Show — Lesson Plan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42032" cy="3566160"/>
          </a:xfrm>
          <a:prstGeom prst="roundRect">
            <a:avLst>
              <a:gd name="adj" fmla="val 4317"/>
            </a:avLst>
          </a:prstGeom>
          <a:solidFill>
            <a:srgbClr val="F6ECE2"/>
          </a:solidFill>
          <a:ln/>
          <a:effectLst>
            <a:outerShdw sx="100000" sy="100000" kx="0" ky="0" algn="bl" rotWithShape="0" blurRad="76200" dist="25400" dir="5400000">
              <a:srgbClr val="4A2C2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86000"/>
            <a:ext cx="822960" cy="457200"/>
          </a:xfrm>
          <a:prstGeom prst="roundRect">
            <a:avLst>
              <a:gd name="adj" fmla="val 50000"/>
            </a:avLst>
          </a:prstGeom>
          <a:solidFill>
            <a:srgbClr val="7A1F2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860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71800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0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Grammar Rules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794760"/>
            <a:ext cx="19933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Simple &amp; Past Continuous — form and use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56432" y="1965960"/>
            <a:ext cx="2542032" cy="3566160"/>
          </a:xfrm>
          <a:prstGeom prst="roundRect">
            <a:avLst>
              <a:gd name="adj" fmla="val 4317"/>
            </a:avLst>
          </a:prstGeom>
          <a:solidFill>
            <a:srgbClr val="F6ECE2"/>
          </a:solidFill>
          <a:ln/>
          <a:effectLst>
            <a:outerShdw sx="100000" sy="100000" kx="0" ky="0" algn="bl" rotWithShape="0" blurRad="76200" dist="25400" dir="5400000">
              <a:srgbClr val="4A2C2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30752" y="2286000"/>
            <a:ext cx="822960" cy="457200"/>
          </a:xfrm>
          <a:prstGeom prst="roundRect">
            <a:avLst>
              <a:gd name="adj" fmla="val 50000"/>
            </a:avLst>
          </a:prstGeom>
          <a:solidFill>
            <a:srgbClr val="7A1F2D"/>
          </a:solidFill>
          <a:ln/>
        </p:spPr>
      </p:sp>
      <p:sp>
        <p:nvSpPr>
          <p:cNvPr id="11" name="Text 9"/>
          <p:cNvSpPr/>
          <p:nvPr/>
        </p:nvSpPr>
        <p:spPr>
          <a:xfrm>
            <a:off x="3730752" y="22860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730752" y="2971800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0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Sentence Structure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730752" y="3794760"/>
            <a:ext cx="19933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clause + subordinate clause with while / when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72784" y="1965960"/>
            <a:ext cx="2542032" cy="3566160"/>
          </a:xfrm>
          <a:prstGeom prst="roundRect">
            <a:avLst>
              <a:gd name="adj" fmla="val 4317"/>
            </a:avLst>
          </a:prstGeom>
          <a:solidFill>
            <a:srgbClr val="F6ECE2"/>
          </a:solidFill>
          <a:ln/>
          <a:effectLst>
            <a:outerShdw sx="100000" sy="100000" kx="0" ky="0" algn="bl" rotWithShape="0" blurRad="76200" dist="25400" dir="5400000">
              <a:srgbClr val="4A2C2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47104" y="2286000"/>
            <a:ext cx="822960" cy="457200"/>
          </a:xfrm>
          <a:prstGeom prst="roundRect">
            <a:avLst>
              <a:gd name="adj" fmla="val 50000"/>
            </a:avLst>
          </a:prstGeom>
          <a:solidFill>
            <a:srgbClr val="7A1F2D"/>
          </a:solidFill>
          <a:ln/>
        </p:spPr>
      </p:sp>
      <p:sp>
        <p:nvSpPr>
          <p:cNvPr id="16" name="Text 14"/>
          <p:cNvSpPr/>
          <p:nvPr/>
        </p:nvSpPr>
        <p:spPr>
          <a:xfrm>
            <a:off x="6547104" y="22860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47104" y="2971800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0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Backstage Practice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547104" y="3794760"/>
            <a:ext cx="19933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Fill-in and multiple-choice exercises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89136" y="1965960"/>
            <a:ext cx="2542032" cy="3566160"/>
          </a:xfrm>
          <a:prstGeom prst="roundRect">
            <a:avLst>
              <a:gd name="adj" fmla="val 4317"/>
            </a:avLst>
          </a:prstGeom>
          <a:solidFill>
            <a:srgbClr val="F6ECE2"/>
          </a:solidFill>
          <a:ln/>
          <a:effectLst>
            <a:outerShdw sx="100000" sy="100000" kx="0" ky="0" algn="bl" rotWithShape="0" blurRad="76200" dist="25400" dir="5400000">
              <a:srgbClr val="4A2C2A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63456" y="2286000"/>
            <a:ext cx="822960" cy="457200"/>
          </a:xfrm>
          <a:prstGeom prst="roundRect">
            <a:avLst>
              <a:gd name="adj" fmla="val 50000"/>
            </a:avLst>
          </a:prstGeom>
          <a:solidFill>
            <a:srgbClr val="7A1F2D"/>
          </a:solidFill>
          <a:ln/>
        </p:spPr>
      </p:sp>
      <p:sp>
        <p:nvSpPr>
          <p:cNvPr id="21" name="Text 19"/>
          <p:cNvSpPr/>
          <p:nvPr/>
        </p:nvSpPr>
        <p:spPr>
          <a:xfrm>
            <a:off x="9363456" y="22860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363456" y="2971800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0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Speaking Challenge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9363456" y="3794760"/>
            <a:ext cx="19933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your own fashion-show story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FOCUS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10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 Simple — The Finished Look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120640" cy="4114800"/>
          </a:xfrm>
          <a:prstGeom prst="roundRect">
            <a:avLst>
              <a:gd name="adj" fmla="val 2667"/>
            </a:avLst>
          </a:prstGeom>
          <a:solidFill>
            <a:srgbClr val="F6ECE2"/>
          </a:solidFill>
          <a:ln/>
          <a:effectLst>
            <a:outerShdw sx="100000" sy="100000" kx="0" ky="0" algn="bl" rotWithShape="0" blurRad="76200" dist="25400" dir="5400000">
              <a:srgbClr val="4A2C2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1488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4231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+ V2  </a:t>
            </a:r>
            <a:pPr indent="0" marL="0">
              <a:buNone/>
            </a:pPr>
            <a:r>
              <a:rPr lang="en-US" sz="1500" dirty="0">
                <a:solidFill>
                  <a:srgbClr val="4A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(regular verbs: verb + ed)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880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5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designer showed her new collection.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34290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70332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Completed action in the past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sequence of finished events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 exact past time (yesterday, in 2019, at 7 pm)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512064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words: yesterday · last night · in 2021 · two days ago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89320" y="1920240"/>
            <a:ext cx="5577840" cy="4114800"/>
          </a:xfrm>
          <a:prstGeom prst="roundRect">
            <a:avLst>
              <a:gd name="adj" fmla="val 2667"/>
            </a:avLst>
          </a:prstGeom>
          <a:solidFill>
            <a:srgbClr val="E8D9C5"/>
          </a:solidFill>
          <a:ln/>
          <a:effectLst>
            <a:outerShdw sx="100000" sy="100000" kx="0" ky="0" algn="bl" rotWithShape="0" blurRad="76200" dist="25400" dir="5400000">
              <a:srgbClr val="4A2C2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21488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RUNWAY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2697480"/>
            <a:ext cx="109728" cy="109728"/>
          </a:xfrm>
          <a:prstGeom prst="ellipse">
            <a:avLst/>
          </a:prstGeom>
          <a:solidFill>
            <a:srgbClr val="B5742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0" y="26060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show started at 7 pm.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309360" y="3383280"/>
            <a:ext cx="109728" cy="109728"/>
          </a:xfrm>
          <a:prstGeom prst="ellipse">
            <a:avLst/>
          </a:prstGeom>
          <a:solidFill>
            <a:srgbClr val="B5742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83680" y="32918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didn't like the first dress.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309360" y="4069080"/>
            <a:ext cx="109728" cy="109728"/>
          </a:xfrm>
          <a:prstGeom prst="ellipse">
            <a:avLst/>
          </a:prstGeom>
          <a:solidFill>
            <a:srgbClr val="B5742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0" y="39776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models walked onto the stage.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09360" y="4754880"/>
            <a:ext cx="109728" cy="109728"/>
          </a:xfrm>
          <a:prstGeom prst="ellipse">
            <a:avLst/>
          </a:prstGeom>
          <a:solidFill>
            <a:srgbClr val="B5742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0" y="46634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audience enjoy the finale?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FOCUS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10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 Continuous — Action in Motion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577840" cy="4114800"/>
          </a:xfrm>
          <a:prstGeom prst="roundRect">
            <a:avLst>
              <a:gd name="adj" fmla="val 2667"/>
            </a:avLst>
          </a:prstGeom>
          <a:solidFill>
            <a:srgbClr val="E8D9C5"/>
          </a:solidFill>
          <a:ln/>
          <a:effectLst>
            <a:outerShdw sx="100000" sy="100000" kx="0" ky="0" algn="bl" rotWithShape="0" blurRad="76200" dist="25400" dir="5400000">
              <a:srgbClr val="4A2C2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1488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BACKSTAGE, 7:45 PM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0120" y="2697480"/>
            <a:ext cx="109728" cy="109728"/>
          </a:xfrm>
          <a:prstGeom prst="ellipse">
            <a:avLst/>
          </a:prstGeom>
          <a:solidFill>
            <a:srgbClr val="B5742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34440" y="26060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models were walking down the runway.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60120" y="3383280"/>
            <a:ext cx="109728" cy="109728"/>
          </a:xfrm>
          <a:prstGeom prst="ellipse">
            <a:avLst/>
          </a:prstGeom>
          <a:solidFill>
            <a:srgbClr val="B5742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34440" y="32918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Photographers were taking pictures.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60120" y="4069080"/>
            <a:ext cx="109728" cy="109728"/>
          </a:xfrm>
          <a:prstGeom prst="ellipse">
            <a:avLst/>
          </a:prstGeom>
          <a:solidFill>
            <a:srgbClr val="B5742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34440" y="39776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was waiting backstage at 8 pm.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60120" y="4754880"/>
            <a:ext cx="109728" cy="109728"/>
          </a:xfrm>
          <a:prstGeom prst="ellipse">
            <a:avLst/>
          </a:prstGeom>
          <a:solidFill>
            <a:srgbClr val="B5742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234440" y="46634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stylists weren't ready yet.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46520" y="1920240"/>
            <a:ext cx="5120640" cy="4114800"/>
          </a:xfrm>
          <a:prstGeom prst="roundRect">
            <a:avLst>
              <a:gd name="adj" fmla="val 2667"/>
            </a:avLst>
          </a:prstGeom>
          <a:solidFill>
            <a:srgbClr val="F6ECE2"/>
          </a:solidFill>
          <a:ln/>
          <a:effectLst>
            <a:outerShdw sx="100000" sy="100000" kx="0" ky="0" algn="bl" rotWithShape="0" blurRad="76200" dist="25400" dir="5400000">
              <a:srgbClr val="4A2C2A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21488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24231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+ was/were + V-ing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2880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5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was wearing a red dress.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66560" y="34290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370332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Action in progress at a specific past moment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Background action, scene-setting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Often interrupted by a shorter action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66560" y="512064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words: at 8 pm · all evening · while · when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WORK TOGETHER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10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Actions, One Moment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9875520" cy="502920"/>
          </a:xfrm>
          <a:prstGeom prst="roundRect">
            <a:avLst>
              <a:gd name="adj" fmla="val 50000"/>
            </a:avLst>
          </a:prstGeom>
          <a:solidFill>
            <a:srgbClr val="8C3A4A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6517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models WERE WALKING down the runway  (Past Continuous — background action)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128662" y="1965960"/>
            <a:ext cx="0" cy="1783080"/>
          </a:xfrm>
          <a:prstGeom prst="line">
            <a:avLst/>
          </a:prstGeom>
          <a:noFill/>
          <a:ln w="31750">
            <a:solidFill>
              <a:srgbClr val="7A1F2D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037222" y="2560320"/>
            <a:ext cx="182880" cy="18288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5622" y="12344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camera FLASHED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7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(Past Simple — short, complete action)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5204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B10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 camera flashed, the models were still walking.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4709160"/>
            <a:ext cx="3291840" cy="1417320"/>
          </a:xfrm>
          <a:prstGeom prst="roundRect">
            <a:avLst>
              <a:gd name="adj" fmla="val 7742"/>
            </a:avLst>
          </a:prstGeom>
          <a:solidFill>
            <a:srgbClr val="F6ECE2"/>
          </a:solidFill>
          <a:ln/>
          <a:effectLst>
            <a:outerShdw sx="100000" sy="100000" kx="0" ky="0" algn="bl" rotWithShape="0" blurRad="76200" dist="25400" dir="5400000">
              <a:srgbClr val="4A2C2A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234440" y="48737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WHILE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53035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Past Continuous clause (the long action)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0" y="4709160"/>
            <a:ext cx="3291840" cy="1417320"/>
          </a:xfrm>
          <a:prstGeom prst="roundRect">
            <a:avLst>
              <a:gd name="adj" fmla="val 7742"/>
            </a:avLst>
          </a:prstGeom>
          <a:solidFill>
            <a:srgbClr val="F6ECE2"/>
          </a:solidFill>
          <a:ln/>
          <a:effectLst>
            <a:outerShdw sx="100000" sy="100000" kx="0" ky="0" algn="bl" rotWithShape="0" blurRad="76200" dist="25400" dir="5400000">
              <a:srgbClr val="4A2C2A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800600" y="48737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53035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Past Simple clause (the short, interrupting action)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38160" y="4709160"/>
            <a:ext cx="3291840" cy="1417320"/>
          </a:xfrm>
          <a:prstGeom prst="roundRect">
            <a:avLst>
              <a:gd name="adj" fmla="val 7742"/>
            </a:avLst>
          </a:prstGeom>
          <a:solidFill>
            <a:srgbClr val="F6ECE2"/>
          </a:solidFill>
          <a:ln/>
          <a:effectLst>
            <a:outerShdw sx="100000" sy="100000" kx="0" ky="0" algn="bl" rotWithShape="0" blurRad="76200" dist="25400" dir="5400000">
              <a:srgbClr val="4A2C2A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366760" y="48737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53035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actions happening at the same time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STRUCTURE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10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Sentence: Main + Subordinate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4846320" cy="1371600"/>
          </a:xfrm>
          <a:prstGeom prst="roundRect">
            <a:avLst>
              <a:gd name="adj" fmla="val 8000"/>
            </a:avLst>
          </a:prstGeom>
          <a:solidFill>
            <a:srgbClr val="E8D9C5"/>
          </a:solidFill>
          <a:ln/>
          <a:effectLst>
            <a:outerShdw sx="100000" sy="100000" kx="0" ky="0" algn="bl" rotWithShape="0" blurRad="76200" dist="25400" dir="5400000">
              <a:srgbClr val="4A2C2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488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5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SUBORDINATE CLAUSE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231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10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While the models were walking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260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A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action — Past Continuous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2011680"/>
            <a:ext cx="4846320" cy="1371600"/>
          </a:xfrm>
          <a:prstGeom prst="roundRect">
            <a:avLst>
              <a:gd name="adj" fmla="val 8000"/>
            </a:avLst>
          </a:prstGeom>
          <a:solidFill>
            <a:srgbClr val="F6ECE2"/>
          </a:solidFill>
          <a:ln/>
          <a:effectLst>
            <a:outerShdw sx="100000" sy="100000" kx="0" ky="0" algn="bl" rotWithShape="0" blurRad="76200" dist="25400" dir="5400000">
              <a:srgbClr val="4A2C2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21488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CLAUSE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4231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10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camera flashed.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9260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A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complete action — Past Simple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41848" y="2450592"/>
            <a:ext cx="512064" cy="493776"/>
          </a:xfrm>
          <a:prstGeom prst="roundRect">
            <a:avLst>
              <a:gd name="adj" fmla="val 50000"/>
            </a:avLst>
          </a:prstGeom>
          <a:solidFill>
            <a:srgbClr val="7A1F2D"/>
          </a:solidFill>
          <a:ln/>
        </p:spPr>
      </p:sp>
      <p:sp>
        <p:nvSpPr>
          <p:cNvPr id="13" name="Text 11"/>
          <p:cNvSpPr/>
          <p:nvPr/>
        </p:nvSpPr>
        <p:spPr>
          <a:xfrm>
            <a:off x="5641848" y="2450592"/>
            <a:ext cx="5120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611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 after the subordinate clause when it comes first. No comma if it comes second.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160520"/>
            <a:ext cx="5257800" cy="1600200"/>
          </a:xfrm>
          <a:prstGeom prst="roundRect">
            <a:avLst>
              <a:gd name="adj" fmla="val 6857"/>
            </a:avLst>
          </a:prstGeom>
          <a:solidFill>
            <a:srgbClr val="F6ECE2"/>
          </a:solidFill>
          <a:ln/>
          <a:effectLst>
            <a:outerShdw sx="100000" sy="100000" kx="0" ky="0" algn="bl" rotWithShape="0" blurRad="76200" dist="25400" dir="5400000">
              <a:srgbClr val="4A2C2A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43434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WITH WHEN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7091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8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getting dressed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the designer 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7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09360" y="4160520"/>
            <a:ext cx="5257800" cy="1600200"/>
          </a:xfrm>
          <a:prstGeom prst="roundRect">
            <a:avLst>
              <a:gd name="adj" fmla="val 6857"/>
            </a:avLst>
          </a:prstGeom>
          <a:solidFill>
            <a:srgbClr val="E8D9C5"/>
          </a:solidFill>
          <a:ln/>
          <a:effectLst>
            <a:outerShdw sx="100000" sy="100000" kx="0" ky="0" algn="bl" rotWithShape="0" blurRad="76200" dist="25400" dir="5400000">
              <a:srgbClr val="4A2C2A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83680" y="43434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5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WITH WHILE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47091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the audience 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8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watching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lights 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7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went out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BACKSTAGE VOCABULARY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10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Fashion Show Words to Know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1170432"/>
          </a:xfrm>
          <a:prstGeom prst="roundRect">
            <a:avLst>
              <a:gd name="adj" fmla="val 9375"/>
            </a:avLst>
          </a:prstGeom>
          <a:solidFill>
            <a:srgbClr val="F6ECE2"/>
          </a:solidFill>
          <a:ln/>
          <a:effectLst>
            <a:outerShdw sx="100000" sy="100000" kx="0" ky="0" algn="bl" rotWithShape="0" blurRad="76200" dist="25400" dir="5400000">
              <a:srgbClr val="4A2C2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13055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0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catwalk / runway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243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5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подиум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965960"/>
            <a:ext cx="3520440" cy="1170432"/>
          </a:xfrm>
          <a:prstGeom prst="roundRect">
            <a:avLst>
              <a:gd name="adj" fmla="val 9375"/>
            </a:avLst>
          </a:prstGeom>
          <a:solidFill>
            <a:srgbClr val="E8D9C5"/>
          </a:solidFill>
          <a:ln/>
          <a:effectLst>
            <a:outerShdw sx="100000" sy="100000" kx="0" ky="0" algn="bl" rotWithShape="0" blurRad="76200" dist="25400" dir="5400000">
              <a:srgbClr val="4A2C2A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72000" y="213055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0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backstage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6243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5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кулисами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965960"/>
            <a:ext cx="3520440" cy="1170432"/>
          </a:xfrm>
          <a:prstGeom prst="roundRect">
            <a:avLst>
              <a:gd name="adj" fmla="val 9375"/>
            </a:avLst>
          </a:prstGeom>
          <a:solidFill>
            <a:srgbClr val="F6ECE2"/>
          </a:solidFill>
          <a:ln/>
          <a:effectLst>
            <a:outerShdw sx="100000" sy="100000" kx="0" ky="0" algn="bl" rotWithShape="0" blurRad="76200" dist="25400" dir="5400000">
              <a:srgbClr val="4A2C2A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75320" y="213055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0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designer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6243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5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дизайнер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337560"/>
            <a:ext cx="3520440" cy="1170432"/>
          </a:xfrm>
          <a:prstGeom prst="roundRect">
            <a:avLst>
              <a:gd name="adj" fmla="val 9375"/>
            </a:avLst>
          </a:prstGeom>
          <a:solidFill>
            <a:srgbClr val="F6ECE2"/>
          </a:solidFill>
          <a:ln/>
          <a:effectLst>
            <a:outerShdw sx="100000" sy="100000" kx="0" ky="0" algn="bl" rotWithShape="0" blurRad="76200" dist="25400" dir="5400000">
              <a:srgbClr val="4A2C2A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350215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0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outfit / look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9959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5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образ, наряд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43400" y="3337560"/>
            <a:ext cx="3520440" cy="1170432"/>
          </a:xfrm>
          <a:prstGeom prst="roundRect">
            <a:avLst>
              <a:gd name="adj" fmla="val 9375"/>
            </a:avLst>
          </a:prstGeom>
          <a:solidFill>
            <a:srgbClr val="E8D9C5"/>
          </a:solidFill>
          <a:ln/>
          <a:effectLst>
            <a:outerShdw sx="100000" sy="100000" kx="0" ky="0" algn="bl" rotWithShape="0" blurRad="76200" dist="25400" dir="5400000">
              <a:srgbClr val="4A2C2A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572000" y="350215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0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makeup artist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39959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5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визажист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6720" y="3337560"/>
            <a:ext cx="3520440" cy="1170432"/>
          </a:xfrm>
          <a:prstGeom prst="roundRect">
            <a:avLst>
              <a:gd name="adj" fmla="val 9375"/>
            </a:avLst>
          </a:prstGeom>
          <a:solidFill>
            <a:srgbClr val="F6ECE2"/>
          </a:solidFill>
          <a:ln/>
          <a:effectLst>
            <a:outerShdw sx="100000" sy="100000" kx="0" ky="0" algn="bl" rotWithShape="0" blurRad="76200" dist="25400" dir="5400000">
              <a:srgbClr val="4A2C2A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275320" y="350215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0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accessory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39959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5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аксессуар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709160"/>
            <a:ext cx="3520440" cy="1170432"/>
          </a:xfrm>
          <a:prstGeom prst="roundRect">
            <a:avLst>
              <a:gd name="adj" fmla="val 9375"/>
            </a:avLst>
          </a:prstGeom>
          <a:solidFill>
            <a:srgbClr val="F6ECE2"/>
          </a:solidFill>
          <a:ln/>
          <a:effectLst>
            <a:outerShdw sx="100000" sy="100000" kx="0" ky="0" algn="bl" rotWithShape="0" blurRad="76200" dist="25400" dir="5400000">
              <a:srgbClr val="4A2C2A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68680" y="487375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0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53675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5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тренд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43400" y="4709160"/>
            <a:ext cx="3520440" cy="1170432"/>
          </a:xfrm>
          <a:prstGeom prst="roundRect">
            <a:avLst>
              <a:gd name="adj" fmla="val 9375"/>
            </a:avLst>
          </a:prstGeom>
          <a:solidFill>
            <a:srgbClr val="E8D9C5"/>
          </a:solidFill>
          <a:ln/>
          <a:effectLst>
            <a:outerShdw sx="100000" sy="100000" kx="0" ky="0" algn="bl" rotWithShape="0" blurRad="76200" dist="25400" dir="5400000">
              <a:srgbClr val="4A2C2A">
                <a:alpha val="1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4572000" y="487375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0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audience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53675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5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зрители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46720" y="4709160"/>
            <a:ext cx="3520440" cy="1170432"/>
          </a:xfrm>
          <a:prstGeom prst="roundRect">
            <a:avLst>
              <a:gd name="adj" fmla="val 9375"/>
            </a:avLst>
          </a:prstGeom>
          <a:solidFill>
            <a:srgbClr val="F6ECE2"/>
          </a:solidFill>
          <a:ln/>
          <a:effectLst>
            <a:outerShdw sx="100000" sy="100000" kx="0" ky="0" algn="bl" rotWithShape="0" blurRad="76200" dist="25400" dir="5400000">
              <a:srgbClr val="4A2C2A">
                <a:alpha val="1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8275320" y="487375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0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spotlight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8275320" y="53675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5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прожектор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· EXERCISE 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10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Fill In the Correct Tense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4251960"/>
          </a:xfrm>
          <a:prstGeom prst="roundRect">
            <a:avLst>
              <a:gd name="adj" fmla="val 2581"/>
            </a:avLst>
          </a:prstGeom>
          <a:solidFill>
            <a:srgbClr val="F6ECE2"/>
          </a:solidFill>
          <a:ln/>
          <a:effectLst>
            <a:outerShdw sx="100000" sy="100000" kx="0" ky="0" algn="bl" rotWithShape="0" blurRad="76200" dist="25400" dir="5400000">
              <a:srgbClr val="4A2C2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14884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7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6 pm, the stylists </a:t>
            </a:r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B5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 (prepare)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models' hair when the designer </a:t>
            </a:r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B5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 (arrive)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88036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7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the photographers </a:t>
            </a:r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B5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 (take)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photos, one model </a:t>
            </a:r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B5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 (fall)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runway!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61188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7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show </a:t>
            </a:r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B5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 (start)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exactly on time.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34340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7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</a:t>
            </a:r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B5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 (watch)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show when my phone </a:t>
            </a:r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B5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 (ring)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507492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7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the audience </a:t>
            </a:r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B5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 (wait)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lights suddenly </a:t>
            </a:r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B5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 (go)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out.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· EXERCISE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10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the Correct 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4251960"/>
          </a:xfrm>
          <a:prstGeom prst="roundRect">
            <a:avLst>
              <a:gd name="adj" fmla="val 2581"/>
            </a:avLst>
          </a:prstGeom>
          <a:solidFill>
            <a:srgbClr val="E8D9C5"/>
          </a:solidFill>
          <a:ln/>
          <a:effectLst>
            <a:outerShdw sx="100000" sy="100000" kx="0" ky="0" algn="bl" rotWithShape="0" blurRad="76200" dist="25400" dir="5400000">
              <a:srgbClr val="4A2C2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14884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7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show </a:t>
            </a:r>
            <a:pPr indent="0" marL="0">
              <a:lnSpc>
                <a:spcPct val="110000"/>
              </a:lnSpc>
              <a:buNone/>
            </a:pPr>
            <a:r>
              <a:rPr lang="en-US" sz="1550" b="1" u="sng" dirty="0">
                <a:solidFill>
                  <a:srgbClr val="8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began / was beginning</a:t>
            </a:r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all the seats were already full.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06324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7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models </a:t>
            </a:r>
            <a:pPr indent="0" marL="0">
              <a:lnSpc>
                <a:spcPct val="110000"/>
              </a:lnSpc>
              <a:buNone/>
            </a:pPr>
            <a:r>
              <a:rPr lang="en-US" sz="1550" b="1" u="sng" dirty="0">
                <a:solidFill>
                  <a:srgbClr val="8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wore / were wearing</a:t>
            </a:r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bright red outfits during the opening walk.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97764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7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</a:t>
            </a:r>
            <a:pPr indent="0" marL="0">
              <a:lnSpc>
                <a:spcPct val="110000"/>
              </a:lnSpc>
              <a:buNone/>
            </a:pPr>
            <a:r>
              <a:rPr lang="en-US" sz="1550" b="1" u="sng" dirty="0">
                <a:solidFill>
                  <a:srgbClr val="8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didn't notice / wasn't noticing</a:t>
            </a:r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broken heel until she stepped off the stage.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89204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7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the designer </a:t>
            </a:r>
            <a:pPr indent="0" marL="0">
              <a:lnSpc>
                <a:spcPct val="110000"/>
              </a:lnSpc>
              <a:buNone/>
            </a:pPr>
            <a:r>
              <a:rPr lang="en-US" sz="1550" b="1" u="sng" dirty="0">
                <a:solidFill>
                  <a:srgbClr val="8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gave / was giving</a:t>
            </a:r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interviews, the crew prepared the next scene.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· EXERCISE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10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Backstage at 7:45 PM — Make Your Own Sentences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WHILE or WHEN to connect each pair of cues. Decide which action is longer (Past Continuous) and which is shorter (Past Simple).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5257800" cy="1737360"/>
          </a:xfrm>
          <a:prstGeom prst="roundRect">
            <a:avLst>
              <a:gd name="adj" fmla="val 6316"/>
            </a:avLst>
          </a:prstGeom>
          <a:solidFill>
            <a:srgbClr val="F6ECE2"/>
          </a:solidFill>
          <a:ln/>
          <a:effectLst>
            <a:outerShdw sx="100000" sy="100000" kx="0" ky="0" algn="bl" rotWithShape="0" blurRad="76200" dist="25400" dir="5400000">
              <a:srgbClr val="4A2C2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651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A1F2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587752"/>
            <a:ext cx="40690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makeup artist / do makeup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B5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/ sneeze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63640" y="2423160"/>
            <a:ext cx="5257800" cy="1737360"/>
          </a:xfrm>
          <a:prstGeom prst="roundRect">
            <a:avLst>
              <a:gd name="adj" fmla="val 6316"/>
            </a:avLst>
          </a:prstGeom>
          <a:solidFill>
            <a:srgbClr val="F6ECE2"/>
          </a:solidFill>
          <a:ln/>
          <a:effectLst>
            <a:outerShdw sx="100000" sy="100000" kx="0" ky="0" algn="bl" rotWithShape="0" blurRad="76200" dist="25400" dir="5400000">
              <a:srgbClr val="4A2C2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651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A1F2D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2587752"/>
            <a:ext cx="40690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/ try on dresses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B5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/ check the schedule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434840"/>
            <a:ext cx="5257800" cy="1737360"/>
          </a:xfrm>
          <a:prstGeom prst="roundRect">
            <a:avLst>
              <a:gd name="adj" fmla="val 6316"/>
            </a:avLst>
          </a:prstGeom>
          <a:solidFill>
            <a:srgbClr val="F6ECE2"/>
          </a:solidFill>
          <a:ln/>
          <a:effectLst>
            <a:outerShdw sx="100000" sy="100000" kx="0" ky="0" algn="bl" rotWithShape="0" blurRad="76200" dist="25400" dir="5400000">
              <a:srgbClr val="4A2C2A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46634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A1F2D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4599432"/>
            <a:ext cx="40690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photographer / set up lights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B5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music / start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263640" y="4434840"/>
            <a:ext cx="5257800" cy="1737360"/>
          </a:xfrm>
          <a:prstGeom prst="roundRect">
            <a:avLst>
              <a:gd name="adj" fmla="val 6316"/>
            </a:avLst>
          </a:prstGeom>
          <a:solidFill>
            <a:srgbClr val="F6ECE2"/>
          </a:solidFill>
          <a:ln/>
          <a:effectLst>
            <a:outerShdw sx="100000" sy="100000" kx="0" ky="0" algn="bl" rotWithShape="0" blurRad="76200" dist="25400" dir="5400000">
              <a:srgbClr val="4A2C2A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92240" y="46634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A1F2D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178040" y="4599432"/>
            <a:ext cx="40690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Alina / watch from backstage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B5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favourite look / appear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822960" y="25146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SPEAKING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</a:t>
            </a:r>
            <a:endParaRPr lang="en-US" sz="4200" dirty="0"/>
          </a:p>
        </p:txBody>
      </p:sp>
      <p:sp>
        <p:nvSpPr>
          <p:cNvPr id="3" name="Text 1"/>
          <p:cNvSpPr/>
          <p:nvPr>
            <p:ph idx="105" type="body" hasCustomPrompt="1"/>
          </p:nvPr>
        </p:nvSpPr>
        <p:spPr>
          <a:xfrm>
            <a:off x="822960" y="3794760"/>
            <a:ext cx="9601200" cy="6400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9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story of your own “fashion show” moment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68680" y="4636008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88720" y="44805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were you wearing last Saturday evening?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68680" y="5202936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88720" y="504748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were you doing at 8 pm yesterday when your phone rang?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68680" y="5769864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88720" y="561441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party or event: what was happening when something unexpected occurred?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10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Two Tenses, One Scene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120640" cy="2834640"/>
          </a:xfrm>
          <a:prstGeom prst="roundRect">
            <a:avLst>
              <a:gd name="adj" fmla="val 3871"/>
            </a:avLst>
          </a:prstGeom>
          <a:solidFill>
            <a:srgbClr val="F6ECE2"/>
          </a:solidFill>
          <a:ln/>
          <a:effectLst>
            <a:outerShdw sx="100000" sy="100000" kx="0" ky="0" algn="bl" rotWithShape="0" blurRad="76200" dist="25400" dir="5400000">
              <a:srgbClr val="4A2C2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 SIMPLE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146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/ verb + ed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action, exact past time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6576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B5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show started at 7 pm.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46520" y="1920240"/>
            <a:ext cx="5120640" cy="2834640"/>
          </a:xfrm>
          <a:prstGeom prst="roundRect">
            <a:avLst>
              <a:gd name="adj" fmla="val 3871"/>
            </a:avLst>
          </a:prstGeom>
          <a:solidFill>
            <a:srgbClr val="E8D9C5"/>
          </a:solidFill>
          <a:ln/>
          <a:effectLst>
            <a:outerShdw sx="100000" sy="100000" kx="0" ky="0" algn="bl" rotWithShape="0" blurRad="76200" dist="25400" dir="5400000">
              <a:srgbClr val="4A2C2A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72084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57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 CONTINUOUS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720840" y="25146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/ were + V-ing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in progress, background scene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36576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models were walking down the runway.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5029200"/>
            <a:ext cx="10881360" cy="1188720"/>
          </a:xfrm>
          <a:prstGeom prst="roundRect">
            <a:avLst>
              <a:gd name="adj" fmla="val 9231"/>
            </a:avLst>
          </a:prstGeom>
          <a:solidFill>
            <a:srgbClr val="F6ECE2"/>
          </a:solidFill>
          <a:ln/>
          <a:effectLst>
            <a:outerShdw sx="100000" sy="100000" kx="0" ky="0" algn="bl" rotWithShape="0" blurRad="76200" dist="25400" dir="5400000">
              <a:srgbClr val="4A2C2A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14400" y="502920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5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</a:t>
            </a:r>
            <a:pPr algn="ctr" indent="0" marL="0">
              <a:buNone/>
            </a:pPr>
            <a:r>
              <a:rPr lang="en-US" sz="1600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Past Continuous (long action)      </a:t>
            </a:r>
            <a:pPr algn="ctr" indent="0" marL="0">
              <a:buNone/>
            </a:pPr>
            <a:r>
              <a:rPr lang="en-US" sz="1600" b="1" dirty="0">
                <a:solidFill>
                  <a:srgbClr val="7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</a:t>
            </a:r>
            <a:pPr algn="ctr" indent="0" marL="0">
              <a:buNone/>
            </a:pPr>
            <a:r>
              <a:rPr lang="en-US" sz="1600" dirty="0">
                <a:solidFill>
                  <a:srgbClr val="2B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Past Simple (short, interrupting action)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822960" y="25146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 SHOW,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ALINA!</a:t>
            </a:r>
            <a:endParaRPr lang="en-US" sz="4200" dirty="0"/>
          </a:p>
        </p:txBody>
      </p:sp>
      <p:sp>
        <p:nvSpPr>
          <p:cNvPr id="3" name="Text 1"/>
          <p:cNvSpPr/>
          <p:nvPr>
            <p:ph idx="105" type="body" hasCustomPrompt="1"/>
          </p:nvPr>
        </p:nvSpPr>
        <p:spPr>
          <a:xfrm>
            <a:off x="822960" y="3794760"/>
            <a:ext cx="9601200" cy="6400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9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Present Perfect — “Have you ever been to a fashion show?”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shion Week Burgundy">
  <a:themeElements>
    <a:clrScheme name="Fashion Week Burgundy">
      <a:dk1>
        <a:srgbClr val="2B1012"/>
      </a:dk1>
      <a:lt1>
        <a:srgbClr val="FFFFFF"/>
      </a:lt1>
      <a:dk2>
        <a:srgbClr val="5C1A24"/>
      </a:dk2>
      <a:lt2>
        <a:srgbClr val="F6ECE2"/>
      </a:lt2>
      <a:accent1>
        <a:srgbClr val="7A1F2D"/>
      </a:accent1>
      <a:accent2>
        <a:srgbClr val="B5742A"/>
      </a:accent2>
      <a:accent3>
        <a:srgbClr val="D9A441"/>
      </a:accent3>
      <a:accent4>
        <a:srgbClr val="4A2C2A"/>
      </a:accent4>
      <a:accent5>
        <a:srgbClr val="8C3A4A"/>
      </a:accent5>
      <a:accent6>
        <a:srgbClr val="E8D9C5"/>
      </a:accent6>
      <a:hlink>
        <a:srgbClr val="B5742A"/>
      </a:hlink>
      <a:folHlink>
        <a:srgbClr val="7A1F2D"/>
      </a:folHlink>
    </a:clrScheme>
    <a:fontScheme name="Fashion Week Burgund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2026-10-17T09:24:05Z</dcterms:created>
  <dcterms:modified xsi:type="dcterms:W3CDTF">2026-10-17T09:24:05Z</dcterms:modified>
</cp:coreProperties>
</file>